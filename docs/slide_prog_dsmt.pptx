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76" r:id="rId4"/>
    <p:sldId id="258" r:id="rId5"/>
    <p:sldId id="260" r:id="rId6"/>
    <p:sldId id="261" r:id="rId7"/>
    <p:sldId id="262" r:id="rId8"/>
    <p:sldId id="263" r:id="rId9"/>
    <p:sldId id="277" r:id="rId10"/>
    <p:sldId id="271" r:id="rId11"/>
    <p:sldId id="269" r:id="rId12"/>
    <p:sldId id="270" r:id="rId13"/>
    <p:sldId id="278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31A4A3-790C-E34E-8F87-97BCFC7868A1}" v="424" dt="2026-09-09T14:53:46.260"/>
    <p1510:client id="{5EDA9FCD-61A4-9AFF-7EE4-00554542ABD6}" v="95" dt="2026-09-08T16:08:51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1"/>
  </p:normalViewPr>
  <p:slideViewPr>
    <p:cSldViewPr snapToGrid="0">
      <p:cViewPr varScale="1">
        <p:scale>
          <a:sx n="116" d="100"/>
          <a:sy n="116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4C517-EE20-9641-A3F9-54681A266EE2}" type="datetimeFigureOut">
              <a:rPr lang="it-IT" smtClean="0"/>
              <a:t>11/09/26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1A5E0-1348-FA4E-A4AA-B328208DFD8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1617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121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044130"/>
            <a:ext cx="9144000" cy="2387600"/>
          </a:xfrm>
        </p:spPr>
        <p:txBody>
          <a:bodyPr/>
          <a:lstStyle/>
          <a:p>
            <a:r>
              <a:rPr lang="de-DE"/>
              <a:t>Distributed Crazy Time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3048000" y="5421739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it-IT">
                <a:ea typeface="+mn-lt"/>
                <a:cs typeface="+mn-lt"/>
              </a:rPr>
              <a:t>Gabriele</a:t>
            </a:r>
            <a:r>
              <a:rPr lang="it-IT"/>
              <a:t> Caioli</a:t>
            </a:r>
          </a:p>
          <a:p>
            <a:pPr algn="r"/>
            <a:r>
              <a:rPr lang="it-IT"/>
              <a:t>Klaudio </a:t>
            </a:r>
            <a:r>
              <a:rPr lang="it-IT" err="1"/>
              <a:t>Ciacia</a:t>
            </a:r>
            <a:endParaRPr lang="it-IT"/>
          </a:p>
          <a:p>
            <a:pPr algn="r"/>
            <a:r>
              <a:rPr lang="it-IT"/>
              <a:t>Lorenzo Vanni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CBBF3D0-2359-0DFB-FC03-C333B22D2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663" y="0"/>
            <a:ext cx="2746635" cy="2429450"/>
          </a:xfrm>
          <a:prstGeom prst="rect">
            <a:avLst/>
          </a:prstGeom>
        </p:spPr>
      </p:pic>
      <p:sp>
        <p:nvSpPr>
          <p:cNvPr id="6" name="Sottotitolo 2">
            <a:extLst>
              <a:ext uri="{FF2B5EF4-FFF2-40B4-BE49-F238E27FC236}">
                <a16:creationId xmlns:a16="http://schemas.microsoft.com/office/drawing/2014/main" id="{D332F8DD-2489-42DE-16C6-05AE7EB5A488}"/>
              </a:ext>
            </a:extLst>
          </p:cNvPr>
          <p:cNvSpPr txBox="1">
            <a:spLocks/>
          </p:cNvSpPr>
          <p:nvPr/>
        </p:nvSpPr>
        <p:spPr>
          <a:xfrm>
            <a:off x="1522771" y="366913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ea typeface="+mn-lt"/>
                <a:cs typeface="+mn-lt"/>
              </a:rPr>
              <a:t>Live </a:t>
            </a:r>
            <a:r>
              <a:rPr lang="it-IT" err="1">
                <a:ea typeface="+mn-lt"/>
                <a:cs typeface="+mn-lt"/>
              </a:rPr>
              <a:t>distributed</a:t>
            </a:r>
            <a:r>
              <a:rPr lang="it-IT">
                <a:ea typeface="+mn-lt"/>
                <a:cs typeface="+mn-lt"/>
              </a:rPr>
              <a:t> betting system with fault </a:t>
            </a:r>
            <a:r>
              <a:rPr lang="it-IT" err="1">
                <a:ea typeface="+mn-lt"/>
                <a:cs typeface="+mn-lt"/>
              </a:rPr>
              <a:t>tolerance</a:t>
            </a:r>
            <a:endParaRPr lang="it-IT" err="1"/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023779-BBCA-CB2E-9B34-9065DA6C9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/>
              <a:t>Game Loop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46AA3A4-D9AB-B10A-95F5-3D412B577A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26" r="26399" b="3807"/>
          <a:stretch>
            <a:fillRect/>
          </a:stretch>
        </p:blipFill>
        <p:spPr>
          <a:xfrm>
            <a:off x="841612" y="1692195"/>
            <a:ext cx="4418476" cy="455409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35D6CAE-5F53-8730-0108-7A09EA186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120" y="705135"/>
            <a:ext cx="6577477" cy="544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790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BA6EA-740F-9AEB-5D1E-3A62A220D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F32DE3-C4C0-C7DE-941E-D0675BC84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160" y="236240"/>
            <a:ext cx="10515600" cy="1011337"/>
          </a:xfrm>
        </p:spPr>
        <p:txBody>
          <a:bodyPr/>
          <a:lstStyle/>
          <a:p>
            <a:r>
              <a:rPr lang="it-IT" b="1"/>
              <a:t>System Architecture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2F08B4A1-7767-3F9F-D46B-D5FDFD70C28E}"/>
              </a:ext>
            </a:extLst>
          </p:cNvPr>
          <p:cNvSpPr/>
          <p:nvPr/>
        </p:nvSpPr>
        <p:spPr>
          <a:xfrm>
            <a:off x="1145310" y="1501775"/>
            <a:ext cx="2717800" cy="1066800"/>
          </a:xfrm>
          <a:prstGeom prst="roundRect">
            <a:avLst/>
          </a:prstGeom>
          <a:solidFill>
            <a:srgbClr val="AECBEE"/>
          </a:solidFill>
          <a:ln w="28575" cap="flat" cmpd="sng" algn="ctr">
            <a:solidFill>
              <a:srgbClr val="3B78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 anchorCtr="0">
            <a:noAutofit/>
          </a:bodyPr>
          <a:lstStyle/>
          <a:p>
            <a:pPr algn="ctr"/>
            <a:r>
              <a:rPr lang="it-IT">
                <a:solidFill>
                  <a:srgbClr val="1A1A1A"/>
                </a:solidFill>
                <a:latin typeface="Arial"/>
                <a:cs typeface="Arial"/>
              </a:rPr>
              <a:t>Browser
HTML, JS, WS</a:t>
            </a:r>
            <a:endParaRPr lang="it-IT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7EB657F7-D2EE-3BFF-61B4-ABEEF9E8CB53}"/>
              </a:ext>
            </a:extLst>
          </p:cNvPr>
          <p:cNvSpPr/>
          <p:nvPr/>
        </p:nvSpPr>
        <p:spPr>
          <a:xfrm>
            <a:off x="4929910" y="1501775"/>
            <a:ext cx="2006600" cy="1066800"/>
          </a:xfrm>
          <a:prstGeom prst="roundRect">
            <a:avLst/>
          </a:prstGeom>
          <a:solidFill>
            <a:srgbClr val="FCDFA6"/>
          </a:solidFill>
          <a:ln w="28575" cap="flat" cmpd="sng" algn="ctr">
            <a:solidFill>
              <a:srgbClr val="E8A3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it-IT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
Spring Boot
H2 Database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74F04B23-E89D-1132-B11A-14568C75DC5D}"/>
              </a:ext>
            </a:extLst>
          </p:cNvPr>
          <p:cNvSpPr/>
          <p:nvPr/>
        </p:nvSpPr>
        <p:spPr>
          <a:xfrm>
            <a:off x="7673110" y="1501775"/>
            <a:ext cx="2019300" cy="1066800"/>
          </a:xfrm>
          <a:prstGeom prst="roundRect">
            <a:avLst/>
          </a:prstGeom>
          <a:solidFill>
            <a:srgbClr val="F5B7B4"/>
          </a:solidFill>
          <a:ln w="28575" cap="flat" cmpd="sng" algn="ctr">
            <a:solidFill>
              <a:srgbClr val="D93F3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it-IT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RabbitMQ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02A374D-A7A9-AB55-9854-562C2382FDED}"/>
              </a:ext>
            </a:extLst>
          </p:cNvPr>
          <p:cNvSpPr/>
          <p:nvPr/>
        </p:nvSpPr>
        <p:spPr>
          <a:xfrm>
            <a:off x="3863110" y="2025650"/>
            <a:ext cx="1066800" cy="19050"/>
          </a:xfrm>
          <a:prstGeom prst="rect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riangolo 6">
            <a:extLst>
              <a:ext uri="{FF2B5EF4-FFF2-40B4-BE49-F238E27FC236}">
                <a16:creationId xmlns:a16="http://schemas.microsoft.com/office/drawing/2014/main" id="{DED98831-C25C-AB30-02DB-23CBCC2E77B6}"/>
              </a:ext>
            </a:extLst>
          </p:cNvPr>
          <p:cNvSpPr/>
          <p:nvPr/>
        </p:nvSpPr>
        <p:spPr>
          <a:xfrm rot="12633488">
            <a:off x="4785902" y="1998278"/>
            <a:ext cx="127000" cy="101600"/>
          </a:xfrm>
          <a:prstGeom prst="triangle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6A2CCD2-29BD-701D-BD14-9E4D55620E38}"/>
              </a:ext>
            </a:extLst>
          </p:cNvPr>
          <p:cNvSpPr/>
          <p:nvPr/>
        </p:nvSpPr>
        <p:spPr>
          <a:xfrm>
            <a:off x="6936510" y="2025650"/>
            <a:ext cx="736600" cy="19050"/>
          </a:xfrm>
          <a:prstGeom prst="rect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riangolo 8">
            <a:extLst>
              <a:ext uri="{FF2B5EF4-FFF2-40B4-BE49-F238E27FC236}">
                <a16:creationId xmlns:a16="http://schemas.microsoft.com/office/drawing/2014/main" id="{1CC6D11C-A5BB-06B9-6DF6-102D577C8622}"/>
              </a:ext>
            </a:extLst>
          </p:cNvPr>
          <p:cNvSpPr/>
          <p:nvPr/>
        </p:nvSpPr>
        <p:spPr>
          <a:xfrm rot="12500396">
            <a:off x="7529606" y="1999452"/>
            <a:ext cx="127000" cy="101600"/>
          </a:xfrm>
          <a:prstGeom prst="triangle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4C7E63C-0F89-76B8-42D5-9F712FF65B37}"/>
              </a:ext>
            </a:extLst>
          </p:cNvPr>
          <p:cNvSpPr txBox="1"/>
          <p:nvPr/>
        </p:nvSpPr>
        <p:spPr>
          <a:xfrm>
            <a:off x="6936510" y="2174875"/>
            <a:ext cx="713657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it-IT" sz="14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AMQP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B873940D-8347-9225-3286-2BFC82FC684E}"/>
              </a:ext>
            </a:extLst>
          </p:cNvPr>
          <p:cNvSpPr/>
          <p:nvPr/>
        </p:nvSpPr>
        <p:spPr>
          <a:xfrm>
            <a:off x="4180610" y="4079875"/>
            <a:ext cx="5867400" cy="2413000"/>
          </a:xfrm>
          <a:prstGeom prst="roundRect">
            <a:avLst/>
          </a:prstGeom>
          <a:solidFill>
            <a:srgbClr val="C7E5B4"/>
          </a:solidFill>
          <a:ln w="1905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DD8510C-7D55-CDD2-0851-05777DA129D9}"/>
              </a:ext>
            </a:extLst>
          </p:cNvPr>
          <p:cNvSpPr txBox="1"/>
          <p:nvPr/>
        </p:nvSpPr>
        <p:spPr>
          <a:xfrm>
            <a:off x="4180610" y="4168775"/>
            <a:ext cx="979755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it-IT">
                <a:solidFill>
                  <a:srgbClr val="1A1A1A"/>
                </a:solidFill>
                <a:latin typeface="Arial"/>
                <a:cs typeface="Arial"/>
              </a:rPr>
              <a:t>  Erlang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B55E30D6-5475-DE5C-3F0D-E339441A6BAF}"/>
              </a:ext>
            </a:extLst>
          </p:cNvPr>
          <p:cNvSpPr/>
          <p:nvPr/>
        </p:nvSpPr>
        <p:spPr>
          <a:xfrm>
            <a:off x="4498110" y="4587875"/>
            <a:ext cx="1600200" cy="1028700"/>
          </a:xfrm>
          <a:prstGeom prst="roundRect">
            <a:avLst/>
          </a:prstGeom>
          <a:solidFill>
            <a:srgbClr val="FFDD73"/>
          </a:solidFill>
          <a:ln w="28575" cap="flat" cmpd="sng" algn="ctr">
            <a:solidFill>
              <a:srgbClr val="BF9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it-IT" sz="160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Game1
(standby)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FBC11AB1-D376-F70B-8182-68E5A95EDE51}"/>
              </a:ext>
            </a:extLst>
          </p:cNvPr>
          <p:cNvSpPr/>
          <p:nvPr/>
        </p:nvSpPr>
        <p:spPr>
          <a:xfrm>
            <a:off x="6352310" y="4587875"/>
            <a:ext cx="1600200" cy="1028700"/>
          </a:xfrm>
          <a:prstGeom prst="roundRect">
            <a:avLst/>
          </a:prstGeom>
          <a:solidFill>
            <a:srgbClr val="FFDD73"/>
          </a:solidFill>
          <a:ln w="28575" cap="flat" cmpd="sng" algn="ctr">
            <a:solidFill>
              <a:srgbClr val="BF9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it-IT" sz="160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Game2
(standby)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8E0F3C6F-9420-A7EB-8026-6016726AAF6C}"/>
              </a:ext>
            </a:extLst>
          </p:cNvPr>
          <p:cNvSpPr/>
          <p:nvPr/>
        </p:nvSpPr>
        <p:spPr>
          <a:xfrm>
            <a:off x="8244610" y="4587875"/>
            <a:ext cx="1600200" cy="1028700"/>
          </a:xfrm>
          <a:prstGeom prst="roundRect">
            <a:avLst/>
          </a:prstGeom>
          <a:solidFill>
            <a:srgbClr val="84C36F"/>
          </a:solidFill>
          <a:ln w="28575" cap="flat" cmpd="sng" algn="ctr">
            <a:solidFill>
              <a:srgbClr val="38761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it-IT" sz="160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Game3
(leader)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DC3E56AB-9648-225B-A3B2-A61E75559154}"/>
              </a:ext>
            </a:extLst>
          </p:cNvPr>
          <p:cNvSpPr/>
          <p:nvPr/>
        </p:nvSpPr>
        <p:spPr>
          <a:xfrm>
            <a:off x="8666885" y="2568575"/>
            <a:ext cx="19050" cy="927100"/>
          </a:xfrm>
          <a:prstGeom prst="rect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5C44BED-C771-0004-5042-6CCB6AB2CA5B}"/>
              </a:ext>
            </a:extLst>
          </p:cNvPr>
          <p:cNvSpPr txBox="1"/>
          <p:nvPr/>
        </p:nvSpPr>
        <p:spPr>
          <a:xfrm>
            <a:off x="8803410" y="2924175"/>
            <a:ext cx="713657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it-IT" sz="14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AMQP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E54B3576-CF5E-4A3C-57E1-4110B910E2EB}"/>
              </a:ext>
            </a:extLst>
          </p:cNvPr>
          <p:cNvSpPr/>
          <p:nvPr/>
        </p:nvSpPr>
        <p:spPr>
          <a:xfrm>
            <a:off x="5298210" y="3486150"/>
            <a:ext cx="3746500" cy="19050"/>
          </a:xfrm>
          <a:prstGeom prst="rect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85F467A7-3F3E-A20D-3BD8-7C2785499EF1}"/>
              </a:ext>
            </a:extLst>
          </p:cNvPr>
          <p:cNvSpPr/>
          <p:nvPr/>
        </p:nvSpPr>
        <p:spPr>
          <a:xfrm>
            <a:off x="5288685" y="3495675"/>
            <a:ext cx="19050" cy="1092200"/>
          </a:xfrm>
          <a:prstGeom prst="rect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riangolo 20">
            <a:extLst>
              <a:ext uri="{FF2B5EF4-FFF2-40B4-BE49-F238E27FC236}">
                <a16:creationId xmlns:a16="http://schemas.microsoft.com/office/drawing/2014/main" id="{346F3F58-4FE1-7981-117A-E701DA3012A4}"/>
              </a:ext>
            </a:extLst>
          </p:cNvPr>
          <p:cNvSpPr/>
          <p:nvPr/>
        </p:nvSpPr>
        <p:spPr>
          <a:xfrm rot="10800000">
            <a:off x="5234710" y="4486275"/>
            <a:ext cx="127000" cy="101600"/>
          </a:xfrm>
          <a:prstGeom prst="triangle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6057CF61-FF64-A780-8577-EA85046B0B3C}"/>
              </a:ext>
            </a:extLst>
          </p:cNvPr>
          <p:cNvSpPr/>
          <p:nvPr/>
        </p:nvSpPr>
        <p:spPr>
          <a:xfrm>
            <a:off x="7142885" y="3495675"/>
            <a:ext cx="19050" cy="1092200"/>
          </a:xfrm>
          <a:prstGeom prst="rect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riangolo 22">
            <a:extLst>
              <a:ext uri="{FF2B5EF4-FFF2-40B4-BE49-F238E27FC236}">
                <a16:creationId xmlns:a16="http://schemas.microsoft.com/office/drawing/2014/main" id="{FECF7293-6B8F-3ABD-744A-8F31CCD47951}"/>
              </a:ext>
            </a:extLst>
          </p:cNvPr>
          <p:cNvSpPr/>
          <p:nvPr/>
        </p:nvSpPr>
        <p:spPr>
          <a:xfrm rot="10800000">
            <a:off x="7088910" y="4486275"/>
            <a:ext cx="127000" cy="101600"/>
          </a:xfrm>
          <a:prstGeom prst="triangle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561CE139-E3DB-FF04-10D5-6E2134A1914E}"/>
              </a:ext>
            </a:extLst>
          </p:cNvPr>
          <p:cNvSpPr/>
          <p:nvPr/>
        </p:nvSpPr>
        <p:spPr>
          <a:xfrm>
            <a:off x="9035185" y="3495675"/>
            <a:ext cx="19050" cy="1092200"/>
          </a:xfrm>
          <a:prstGeom prst="rect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riangolo 24">
            <a:extLst>
              <a:ext uri="{FF2B5EF4-FFF2-40B4-BE49-F238E27FC236}">
                <a16:creationId xmlns:a16="http://schemas.microsoft.com/office/drawing/2014/main" id="{1B73C2FF-5CD0-8403-464C-F4A3012E002A}"/>
              </a:ext>
            </a:extLst>
          </p:cNvPr>
          <p:cNvSpPr/>
          <p:nvPr/>
        </p:nvSpPr>
        <p:spPr>
          <a:xfrm rot="10800000">
            <a:off x="8981210" y="4486275"/>
            <a:ext cx="127000" cy="101600"/>
          </a:xfrm>
          <a:prstGeom prst="triangle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riangolo 26"/>
          <p:cNvSpPr/>
          <p:nvPr/>
        </p:nvSpPr>
        <p:spPr>
          <a:xfrm rot="16200000">
            <a:off x="3888510" y="1984375"/>
            <a:ext cx="127000" cy="101600"/>
          </a:xfrm>
          <a:prstGeom prst="triangle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Triangolo 27"/>
          <p:cNvSpPr/>
          <p:nvPr/>
        </p:nvSpPr>
        <p:spPr>
          <a:xfrm rot="16200000">
            <a:off x="6961910" y="1984375"/>
            <a:ext cx="127000" cy="101600"/>
          </a:xfrm>
          <a:prstGeom prst="triangle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Triangolo 28"/>
          <p:cNvSpPr/>
          <p:nvPr/>
        </p:nvSpPr>
        <p:spPr>
          <a:xfrm>
            <a:off x="8612910" y="2568575"/>
            <a:ext cx="127000" cy="101600"/>
          </a:xfrm>
          <a:prstGeom prst="triangle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9" name="Connettore 29"/>
          <p:cNvCxnSpPr/>
          <p:nvPr/>
        </p:nvCxnSpPr>
        <p:spPr>
          <a:xfrm>
            <a:off x="5298210" y="5743575"/>
            <a:ext cx="3746500" cy="0"/>
          </a:xfrm>
          <a:prstGeom prst="line">
            <a:avLst/>
          </a:prstGeom>
          <a:ln w="12700" cap="flat" cmpd="sng" algn="ctr">
            <a:solidFill>
              <a:srgbClr val="595959"/>
            </a:solidFill>
            <a:prstDash val="dash"/>
            <a:miter lim="800000"/>
          </a:ln>
        </p:spPr>
      </p:cxnSp>
      <p:cxnSp>
        <p:nvCxnSpPr>
          <p:cNvPr id="30" name="Connettore 30"/>
          <p:cNvCxnSpPr/>
          <p:nvPr/>
        </p:nvCxnSpPr>
        <p:spPr>
          <a:xfrm>
            <a:off x="5298210" y="5616575"/>
            <a:ext cx="0" cy="127000"/>
          </a:xfrm>
          <a:prstGeom prst="line">
            <a:avLst/>
          </a:prstGeom>
          <a:ln w="12700" cap="flat" cmpd="sng" algn="ctr">
            <a:solidFill>
              <a:srgbClr val="595959"/>
            </a:solidFill>
            <a:prstDash val="dash"/>
            <a:miter lim="800000"/>
          </a:ln>
        </p:spPr>
      </p:cxnSp>
      <p:cxnSp>
        <p:nvCxnSpPr>
          <p:cNvPr id="31" name="Connettore 31"/>
          <p:cNvCxnSpPr/>
          <p:nvPr/>
        </p:nvCxnSpPr>
        <p:spPr>
          <a:xfrm>
            <a:off x="7152410" y="5616575"/>
            <a:ext cx="0" cy="127000"/>
          </a:xfrm>
          <a:prstGeom prst="line">
            <a:avLst/>
          </a:prstGeom>
          <a:ln w="12700" cap="flat" cmpd="sng" algn="ctr">
            <a:solidFill>
              <a:srgbClr val="595959"/>
            </a:solidFill>
            <a:prstDash val="dash"/>
            <a:miter lim="800000"/>
          </a:ln>
        </p:spPr>
      </p:cxnSp>
      <p:cxnSp>
        <p:nvCxnSpPr>
          <p:cNvPr id="32" name="Connettore 32"/>
          <p:cNvCxnSpPr/>
          <p:nvPr/>
        </p:nvCxnSpPr>
        <p:spPr>
          <a:xfrm>
            <a:off x="9044710" y="5616575"/>
            <a:ext cx="0" cy="127000"/>
          </a:xfrm>
          <a:prstGeom prst="line">
            <a:avLst/>
          </a:prstGeom>
          <a:ln w="12700" cap="flat" cmpd="sng" algn="ctr">
            <a:solidFill>
              <a:srgbClr val="595959"/>
            </a:solidFill>
            <a:prstDash val="dash"/>
            <a:miter lim="800000"/>
          </a:ln>
        </p:spPr>
      </p:cxnSp>
      <p:sp>
        <p:nvSpPr>
          <p:cNvPr id="33" name="CasellaDiTesto 33"/>
          <p:cNvSpPr txBox="1"/>
          <p:nvPr/>
        </p:nvSpPr>
        <p:spPr>
          <a:xfrm>
            <a:off x="7723910" y="5781675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wrap="none" rtlCol="0" anchor="t">
            <a:spAutoFit/>
          </a:bodyPr>
          <a:lstStyle/>
          <a:p>
            <a:pPr algn="l"/>
            <a:r>
              <a:rPr lang="it-IT" sz="1200" i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OTP Distribution</a:t>
            </a:r>
          </a:p>
        </p:txBody>
      </p:sp>
      <p:sp>
        <p:nvSpPr>
          <p:cNvPr id="34" name="Rettangolo con angoli arrotondati 34"/>
          <p:cNvSpPr/>
          <p:nvPr/>
        </p:nvSpPr>
        <p:spPr>
          <a:xfrm>
            <a:off x="6091960" y="6035675"/>
            <a:ext cx="2159000" cy="330200"/>
          </a:xfrm>
          <a:prstGeom prst="roundRect">
            <a:avLst/>
          </a:prstGeom>
          <a:solidFill>
            <a:srgbClr val="E6D6F5"/>
          </a:solidFill>
          <a:ln w="19050" cap="flat" cmpd="sng" algn="ctr">
            <a:solidFill>
              <a:srgbClr val="8E7C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it-IT" sz="110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Mnesia (replicato)</a:t>
            </a:r>
          </a:p>
        </p:txBody>
      </p:sp>
      <p:cxnSp>
        <p:nvCxnSpPr>
          <p:cNvPr id="35" name="Connettore 35"/>
          <p:cNvCxnSpPr/>
          <p:nvPr/>
        </p:nvCxnSpPr>
        <p:spPr>
          <a:xfrm>
            <a:off x="7171460" y="5743575"/>
            <a:ext cx="0" cy="330200"/>
          </a:xfrm>
          <a:prstGeom prst="line">
            <a:avLst/>
          </a:prstGeom>
          <a:ln w="12700" cap="flat" cmpd="sng" algn="ctr">
            <a:solidFill>
              <a:srgbClr val="595959"/>
            </a:solidFill>
            <a:prstDash val="dash"/>
            <a:miter lim="800000"/>
          </a:ln>
        </p:spPr>
      </p:cxnSp>
      <p:sp>
        <p:nvSpPr>
          <p:cNvPr id="36" name="Triangolo 36"/>
          <p:cNvSpPr/>
          <p:nvPr/>
        </p:nvSpPr>
        <p:spPr>
          <a:xfrm>
            <a:off x="5234710" y="3508375"/>
            <a:ext cx="127000" cy="101600"/>
          </a:xfrm>
          <a:prstGeom prst="triangle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Triangolo 37"/>
          <p:cNvSpPr/>
          <p:nvPr/>
        </p:nvSpPr>
        <p:spPr>
          <a:xfrm>
            <a:off x="7088910" y="3508375"/>
            <a:ext cx="127000" cy="101600"/>
          </a:xfrm>
          <a:prstGeom prst="triangle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riangolo 38"/>
          <p:cNvSpPr/>
          <p:nvPr/>
        </p:nvSpPr>
        <p:spPr>
          <a:xfrm>
            <a:off x="8981210" y="3508375"/>
            <a:ext cx="127000" cy="101600"/>
          </a:xfrm>
          <a:prstGeom prst="triangle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3C31AFF5-A8FA-365C-8600-73A65FAB1EC9}"/>
              </a:ext>
            </a:extLst>
          </p:cNvPr>
          <p:cNvSpPr txBox="1"/>
          <p:nvPr/>
        </p:nvSpPr>
        <p:spPr>
          <a:xfrm>
            <a:off x="3863110" y="2174875"/>
            <a:ext cx="1047082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it-IT" sz="140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</a:t>
            </a:r>
            <a:r>
              <a:rPr lang="it-IT" sz="14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WS</a:t>
            </a:r>
          </a:p>
        </p:txBody>
      </p:sp>
    </p:spTree>
    <p:extLst>
      <p:ext uri="{BB962C8B-B14F-4D97-AF65-F5344CB8AC3E}">
        <p14:creationId xmlns:p14="http://schemas.microsoft.com/office/powerpoint/2010/main" val="2718985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C3BE00-666C-88FE-D5C7-3161ECE30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err="1"/>
              <a:t>Supervision</a:t>
            </a:r>
            <a:r>
              <a:rPr lang="it-IT" b="1"/>
              <a:t> Tree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703C15A7-1CCE-1653-7F45-0EC697274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039" y="1561384"/>
            <a:ext cx="11739696" cy="494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0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54CF1C-122A-15F7-6334-48B4E6B8EC72}"/>
              </a:ext>
            </a:extLst>
          </p:cNvPr>
          <p:cNvSpPr/>
          <p:nvPr/>
        </p:nvSpPr>
        <p:spPr>
          <a:xfrm>
            <a:off x="5422601" y="347980"/>
            <a:ext cx="1551697" cy="4886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BAE04FD-2387-3DE1-4199-E9830C400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765"/>
            <a:ext cx="4937760" cy="1345883"/>
          </a:xfrm>
        </p:spPr>
        <p:txBody>
          <a:bodyPr>
            <a:normAutofit/>
          </a:bodyPr>
          <a:lstStyle/>
          <a:p>
            <a:r>
              <a:rPr lang="it-IT" sz="3600" b="1"/>
              <a:t>Cluster manager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40DF6A-93BD-7739-9A1C-F36D96458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8585"/>
            <a:ext cx="5242560" cy="47983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2000" err="1"/>
              <a:t>Reads</a:t>
            </a:r>
            <a:r>
              <a:rPr lang="it-IT" sz="2000"/>
              <a:t> </a:t>
            </a:r>
            <a:r>
              <a:rPr lang="it-IT" sz="2000" err="1"/>
              <a:t>peer_nodes</a:t>
            </a:r>
            <a:r>
              <a:rPr lang="it-IT" sz="2000"/>
              <a:t> from </a:t>
            </a:r>
            <a:r>
              <a:rPr lang="it-IT" sz="2000" err="1"/>
              <a:t>config</a:t>
            </a:r>
            <a:r>
              <a:rPr lang="it-IT" sz="2000"/>
              <a:t> file</a:t>
            </a:r>
            <a:endParaRPr lang="it-IT"/>
          </a:p>
          <a:p>
            <a:pPr marL="0" indent="0">
              <a:buNone/>
            </a:pPr>
            <a:r>
              <a:rPr lang="it-IT" sz="2000"/>
              <a:t>Monitors with </a:t>
            </a:r>
            <a:r>
              <a:rPr lang="it-IT" sz="2000" err="1"/>
              <a:t>net_kernel:monitor_nodes</a:t>
            </a:r>
            <a:r>
              <a:rPr lang="it-IT" sz="2000"/>
              <a:t>/2</a:t>
            </a:r>
            <a:endParaRPr lang="it-IT"/>
          </a:p>
          <a:p>
            <a:pPr marL="0" indent="0">
              <a:buNone/>
            </a:pPr>
            <a:endParaRPr lang="it-IT" sz="2000"/>
          </a:p>
          <a:p>
            <a:pPr marL="0" indent="0">
              <a:buNone/>
            </a:pPr>
            <a:r>
              <a:rPr lang="it-IT" sz="2000"/>
              <a:t>At boot:</a:t>
            </a:r>
            <a:endParaRPr lang="it-IT"/>
          </a:p>
          <a:p>
            <a:pPr marL="0" indent="0">
              <a:buNone/>
            </a:pPr>
            <a:r>
              <a:rPr lang="it-IT" sz="2000"/>
              <a:t>1. Pings </a:t>
            </a:r>
            <a:r>
              <a:rPr lang="it-IT" sz="2000" err="1"/>
              <a:t>every</a:t>
            </a:r>
            <a:r>
              <a:rPr lang="it-IT" sz="2000"/>
              <a:t> peer in the </a:t>
            </a:r>
            <a:r>
              <a:rPr lang="it-IT" sz="2000" err="1"/>
              <a:t>peer_node</a:t>
            </a:r>
            <a:r>
              <a:rPr lang="it-IT" sz="2000"/>
              <a:t> </a:t>
            </a:r>
            <a:r>
              <a:rPr lang="it-IT" sz="2000" err="1"/>
              <a:t>config</a:t>
            </a:r>
            <a:endParaRPr lang="it-IT" sz="2000"/>
          </a:p>
          <a:p>
            <a:pPr marL="0" indent="0">
              <a:buNone/>
            </a:pPr>
            <a:r>
              <a:rPr lang="it-IT" sz="2000"/>
              <a:t>2. Starts </a:t>
            </a:r>
            <a:r>
              <a:rPr lang="it-IT" sz="2000" err="1"/>
              <a:t>leader_election</a:t>
            </a:r>
            <a:endParaRPr lang="it-IT" err="1"/>
          </a:p>
          <a:p>
            <a:pPr marL="0" indent="0">
              <a:buNone/>
            </a:pPr>
            <a:r>
              <a:rPr lang="it-IT" sz="2000"/>
              <a:t>3. Bootstrap </a:t>
            </a:r>
            <a:r>
              <a:rPr lang="it-IT" sz="2000" err="1"/>
              <a:t>Mnesiadb</a:t>
            </a:r>
            <a:endParaRPr lang="it-IT"/>
          </a:p>
          <a:p>
            <a:pPr marL="0" indent="0">
              <a:buNone/>
            </a:pPr>
            <a:r>
              <a:rPr lang="it-IT" sz="2000"/>
              <a:t>4. Ping </a:t>
            </a:r>
            <a:r>
              <a:rPr lang="it-IT" sz="2000" err="1"/>
              <a:t>every</a:t>
            </a:r>
            <a:r>
              <a:rPr lang="it-IT" sz="2000"/>
              <a:t> 10s for </a:t>
            </a:r>
            <a:r>
              <a:rPr lang="it-IT" sz="2000" err="1"/>
              <a:t>peers</a:t>
            </a:r>
            <a:r>
              <a:rPr lang="it-IT" sz="2000"/>
              <a:t> </a:t>
            </a:r>
            <a:r>
              <a:rPr lang="it-IT" sz="2000" err="1"/>
              <a:t>not</a:t>
            </a:r>
            <a:r>
              <a:rPr lang="it-IT" sz="2000"/>
              <a:t> </a:t>
            </a:r>
            <a:r>
              <a:rPr lang="it-IT" sz="2000" err="1"/>
              <a:t>yet</a:t>
            </a:r>
            <a:r>
              <a:rPr lang="it-IT" sz="2000"/>
              <a:t> </a:t>
            </a:r>
            <a:r>
              <a:rPr lang="it-IT" sz="2000" err="1"/>
              <a:t>connected</a:t>
            </a:r>
            <a:endParaRPr lang="it-IT" err="1"/>
          </a:p>
          <a:p>
            <a:pPr marL="0" indent="0">
              <a:buNone/>
            </a:pPr>
            <a:endParaRPr lang="it-IT" sz="2000"/>
          </a:p>
          <a:p>
            <a:pPr marL="0" indent="0">
              <a:buNone/>
            </a:pPr>
            <a:r>
              <a:rPr lang="it-IT" sz="2000" err="1"/>
              <a:t>Node_up</a:t>
            </a:r>
            <a:r>
              <a:rPr lang="it-IT" sz="2000"/>
              <a:t> / </a:t>
            </a:r>
            <a:r>
              <a:rPr lang="it-IT" sz="2000" err="1"/>
              <a:t>Node_down</a:t>
            </a:r>
            <a:r>
              <a:rPr lang="it-IT" sz="2000"/>
              <a:t> -&gt; </a:t>
            </a:r>
            <a:r>
              <a:rPr lang="it-IT" sz="2000" err="1"/>
              <a:t>leader_election</a:t>
            </a:r>
            <a:endParaRPr lang="it-IT"/>
          </a:p>
          <a:p>
            <a:pPr marL="0" indent="0">
              <a:buNone/>
            </a:pPr>
            <a:r>
              <a:rPr lang="it-IT" sz="2000" err="1"/>
              <a:t>Mnesiadb</a:t>
            </a:r>
            <a:r>
              <a:rPr lang="it-IT" sz="2000"/>
              <a:t> </a:t>
            </a:r>
            <a:r>
              <a:rPr lang="it-IT" sz="2000" err="1"/>
              <a:t>exists</a:t>
            </a:r>
            <a:r>
              <a:rPr lang="it-IT" sz="2000"/>
              <a:t> -&gt; </a:t>
            </a:r>
            <a:r>
              <a:rPr lang="it-IT" sz="2000" err="1"/>
              <a:t>join_mnesiadb</a:t>
            </a:r>
            <a:r>
              <a:rPr lang="it-IT" sz="2000"/>
              <a:t>()</a:t>
            </a:r>
            <a:endParaRPr lang="it-IT"/>
          </a:p>
          <a:p>
            <a:pPr marL="0" indent="0">
              <a:buNone/>
            </a:pPr>
            <a:r>
              <a:rPr lang="it-IT" sz="2000" err="1"/>
              <a:t>Otherwise</a:t>
            </a:r>
            <a:r>
              <a:rPr lang="it-IT" sz="2000"/>
              <a:t> the </a:t>
            </a:r>
            <a:r>
              <a:rPr lang="it-IT" sz="2000" err="1"/>
              <a:t>lowest</a:t>
            </a:r>
            <a:r>
              <a:rPr lang="it-IT" sz="2000"/>
              <a:t> </a:t>
            </a:r>
            <a:r>
              <a:rPr lang="it-IT" sz="2000" err="1"/>
              <a:t>node</a:t>
            </a:r>
            <a:r>
              <a:rPr lang="it-IT" sz="2000"/>
              <a:t> </a:t>
            </a:r>
            <a:r>
              <a:rPr lang="it-IT" sz="2000" err="1"/>
              <a:t>will</a:t>
            </a:r>
            <a:r>
              <a:rPr lang="it-IT" sz="2000"/>
              <a:t> create </a:t>
            </a:r>
            <a:r>
              <a:rPr lang="it-IT" sz="2000" err="1"/>
              <a:t>it</a:t>
            </a:r>
            <a:endParaRPr lang="it-IT" err="1"/>
          </a:p>
          <a:p>
            <a:endParaRPr lang="it-IT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0269B40E-54A5-A4D5-A8DF-5EF2C61C1DF6}"/>
              </a:ext>
            </a:extLst>
          </p:cNvPr>
          <p:cNvCxnSpPr/>
          <p:nvPr/>
        </p:nvCxnSpPr>
        <p:spPr>
          <a:xfrm>
            <a:off x="6978335" y="584609"/>
            <a:ext cx="1404588" cy="8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C0286C59-E51A-6E1B-DF28-107F06A5031E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9161151" y="870777"/>
            <a:ext cx="0" cy="5012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5429417-BFB6-EB58-9C08-D1081AA528F2}"/>
              </a:ext>
            </a:extLst>
          </p:cNvPr>
          <p:cNvSpPr/>
          <p:nvPr/>
        </p:nvSpPr>
        <p:spPr>
          <a:xfrm>
            <a:off x="8385302" y="382099"/>
            <a:ext cx="1551697" cy="4886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68E4E94-E010-9966-8372-AB7669A4E0F0}"/>
              </a:ext>
            </a:extLst>
          </p:cNvPr>
          <p:cNvSpPr/>
          <p:nvPr/>
        </p:nvSpPr>
        <p:spPr>
          <a:xfrm>
            <a:off x="7911348" y="1340918"/>
            <a:ext cx="3337277" cy="4545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DDFF030-3DCB-EDD9-CAD0-745B55024687}"/>
              </a:ext>
            </a:extLst>
          </p:cNvPr>
          <p:cNvSpPr txBox="1"/>
          <p:nvPr/>
        </p:nvSpPr>
        <p:spPr>
          <a:xfrm>
            <a:off x="8032393" y="1372019"/>
            <a:ext cx="30988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err="1"/>
              <a:t>net_kernel</a:t>
            </a:r>
            <a:r>
              <a:rPr lang="it-IT"/>
              <a:t> </a:t>
            </a:r>
            <a:r>
              <a:rPr lang="it-IT" err="1"/>
              <a:t>detects</a:t>
            </a:r>
            <a:r>
              <a:rPr lang="it-IT"/>
              <a:t> new </a:t>
            </a:r>
            <a:r>
              <a:rPr lang="it-IT" err="1"/>
              <a:t>node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ADAA61A5-D55C-3ECB-F2B1-F61E74BB8C97}"/>
              </a:ext>
            </a:extLst>
          </p:cNvPr>
          <p:cNvCxnSpPr>
            <a:cxnSpLocks/>
          </p:cNvCxnSpPr>
          <p:nvPr/>
        </p:nvCxnSpPr>
        <p:spPr>
          <a:xfrm>
            <a:off x="9095719" y="1803372"/>
            <a:ext cx="0" cy="631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A2009839-343D-7405-6396-7012B0C88D1D}"/>
              </a:ext>
            </a:extLst>
          </p:cNvPr>
          <p:cNvCxnSpPr>
            <a:cxnSpLocks/>
          </p:cNvCxnSpPr>
          <p:nvPr/>
        </p:nvCxnSpPr>
        <p:spPr>
          <a:xfrm>
            <a:off x="9095719" y="2889510"/>
            <a:ext cx="0" cy="59050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66DEA27-447B-C082-6447-80431BA7BAC4}"/>
              </a:ext>
            </a:extLst>
          </p:cNvPr>
          <p:cNvCxnSpPr>
            <a:cxnSpLocks/>
          </p:cNvCxnSpPr>
          <p:nvPr/>
        </p:nvCxnSpPr>
        <p:spPr>
          <a:xfrm>
            <a:off x="7863073" y="3486684"/>
            <a:ext cx="2457902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CAB6AB88-8F59-9FAE-A20E-396E34421AD4}"/>
              </a:ext>
            </a:extLst>
          </p:cNvPr>
          <p:cNvCxnSpPr>
            <a:cxnSpLocks/>
          </p:cNvCxnSpPr>
          <p:nvPr/>
        </p:nvCxnSpPr>
        <p:spPr>
          <a:xfrm>
            <a:off x="7872415" y="3490369"/>
            <a:ext cx="0" cy="633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32D3D9FA-15F0-A743-5AD7-71739B9451F3}"/>
              </a:ext>
            </a:extLst>
          </p:cNvPr>
          <p:cNvCxnSpPr>
            <a:cxnSpLocks/>
          </p:cNvCxnSpPr>
          <p:nvPr/>
        </p:nvCxnSpPr>
        <p:spPr>
          <a:xfrm>
            <a:off x="10320975" y="3480209"/>
            <a:ext cx="0" cy="9505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A2A5E019-0AD1-B455-E6C7-F8A3601EEEA1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10299784" y="4827898"/>
            <a:ext cx="1" cy="592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3E02552-CA7B-DF62-720A-91FEE9D90626}"/>
              </a:ext>
            </a:extLst>
          </p:cNvPr>
          <p:cNvSpPr txBox="1"/>
          <p:nvPr/>
        </p:nvSpPr>
        <p:spPr>
          <a:xfrm>
            <a:off x="5526267" y="401364"/>
            <a:ext cx="45923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game3  </a:t>
            </a:r>
            <a:r>
              <a:rPr lang="it-IT" err="1"/>
              <a:t>pong</a:t>
            </a:r>
            <a:r>
              <a:rPr lang="it-IT"/>
              <a:t>                                      </a:t>
            </a:r>
            <a:r>
              <a:rPr lang="it-IT" err="1"/>
              <a:t>connected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BE28B9D-3E07-1CA3-4DAF-31FB4FD2F6A2}"/>
              </a:ext>
            </a:extLst>
          </p:cNvPr>
          <p:cNvSpPr/>
          <p:nvPr/>
        </p:nvSpPr>
        <p:spPr>
          <a:xfrm>
            <a:off x="6963659" y="2434950"/>
            <a:ext cx="4611068" cy="4545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562A152-701E-C96E-8615-4D6A1AC08547}"/>
              </a:ext>
            </a:extLst>
          </p:cNvPr>
          <p:cNvSpPr txBox="1"/>
          <p:nvPr/>
        </p:nvSpPr>
        <p:spPr>
          <a:xfrm>
            <a:off x="7077016" y="2467847"/>
            <a:ext cx="4958080" cy="3794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err="1">
                <a:solidFill>
                  <a:srgbClr val="000000"/>
                </a:solidFill>
                <a:ea typeface="+mn-lt"/>
                <a:cs typeface="+mn-lt"/>
              </a:rPr>
              <a:t>cluster_manager</a:t>
            </a:r>
            <a:r>
              <a:rPr lang="it-IT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it-IT" err="1">
                <a:solidFill>
                  <a:srgbClr val="000000"/>
                </a:solidFill>
                <a:ea typeface="+mn-lt"/>
                <a:cs typeface="+mn-lt"/>
              </a:rPr>
              <a:t>receives</a:t>
            </a:r>
            <a:r>
              <a:rPr lang="it-IT">
                <a:solidFill>
                  <a:srgbClr val="000000"/>
                </a:solidFill>
                <a:ea typeface="+mn-lt"/>
                <a:cs typeface="+mn-lt"/>
              </a:rPr>
              <a:t> {</a:t>
            </a:r>
            <a:r>
              <a:rPr lang="it-IT" err="1">
                <a:solidFill>
                  <a:srgbClr val="000000"/>
                </a:solidFill>
                <a:ea typeface="+mn-lt"/>
                <a:cs typeface="+mn-lt"/>
              </a:rPr>
              <a:t>nodeup</a:t>
            </a:r>
            <a:r>
              <a:rPr lang="it-IT">
                <a:solidFill>
                  <a:srgbClr val="000000"/>
                </a:solidFill>
                <a:ea typeface="+mn-lt"/>
                <a:cs typeface="+mn-lt"/>
              </a:rPr>
              <a:t>, game3}</a:t>
            </a:r>
            <a:endParaRPr lang="it-IT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A96E5B8-DBA8-9F34-ED97-FAD754DF843F}"/>
              </a:ext>
            </a:extLst>
          </p:cNvPr>
          <p:cNvSpPr/>
          <p:nvPr/>
        </p:nvSpPr>
        <p:spPr>
          <a:xfrm>
            <a:off x="6548540" y="4123861"/>
            <a:ext cx="1938381" cy="8128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57C2935-D581-051E-7563-CF23F0747E21}"/>
              </a:ext>
            </a:extLst>
          </p:cNvPr>
          <p:cNvSpPr txBox="1"/>
          <p:nvPr/>
        </p:nvSpPr>
        <p:spPr>
          <a:xfrm>
            <a:off x="6597494" y="4208888"/>
            <a:ext cx="19405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Updates list </a:t>
            </a:r>
            <a:r>
              <a:rPr lang="it-IT" err="1"/>
              <a:t>connected</a:t>
            </a:r>
            <a:r>
              <a:rPr lang="it-IT"/>
              <a:t> </a:t>
            </a:r>
            <a:r>
              <a:rPr lang="it-IT" err="1"/>
              <a:t>nodes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E6E4C15-A0AD-685D-F21D-5364DEE9D087}"/>
              </a:ext>
            </a:extLst>
          </p:cNvPr>
          <p:cNvSpPr/>
          <p:nvPr/>
        </p:nvSpPr>
        <p:spPr>
          <a:xfrm>
            <a:off x="9330594" y="5420398"/>
            <a:ext cx="1938381" cy="8128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1EB7692-F25A-9AB5-0890-361C6937C4D1}"/>
              </a:ext>
            </a:extLst>
          </p:cNvPr>
          <p:cNvSpPr/>
          <p:nvPr/>
        </p:nvSpPr>
        <p:spPr>
          <a:xfrm>
            <a:off x="8838904" y="4430714"/>
            <a:ext cx="3302540" cy="3979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E35AD01-5D88-1901-321C-418584461A8D}"/>
              </a:ext>
            </a:extLst>
          </p:cNvPr>
          <p:cNvSpPr txBox="1"/>
          <p:nvPr/>
        </p:nvSpPr>
        <p:spPr>
          <a:xfrm>
            <a:off x="8871800" y="4444640"/>
            <a:ext cx="33223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err="1">
                <a:ea typeface="+mn-lt"/>
                <a:cs typeface="+mn-lt"/>
              </a:rPr>
              <a:t>leader_election:start_election</a:t>
            </a:r>
            <a:r>
              <a:rPr lang="it-IT">
                <a:ea typeface="+mn-lt"/>
                <a:cs typeface="+mn-lt"/>
              </a:rPr>
              <a:t>()</a:t>
            </a:r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596DCCD1-6019-5A23-2B0B-E9CC1B869837}"/>
              </a:ext>
            </a:extLst>
          </p:cNvPr>
          <p:cNvSpPr txBox="1"/>
          <p:nvPr/>
        </p:nvSpPr>
        <p:spPr>
          <a:xfrm>
            <a:off x="9385418" y="5500997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Bully </a:t>
            </a:r>
            <a:r>
              <a:rPr lang="it-IT" err="1"/>
              <a:t>Algorithm</a:t>
            </a:r>
            <a:br>
              <a:rPr lang="it-IT"/>
            </a:br>
            <a:r>
              <a:rPr lang="it-IT"/>
              <a:t>game3 --&gt; leader</a:t>
            </a:r>
          </a:p>
        </p:txBody>
      </p:sp>
    </p:spTree>
    <p:extLst>
      <p:ext uri="{BB962C8B-B14F-4D97-AF65-F5344CB8AC3E}">
        <p14:creationId xmlns:p14="http://schemas.microsoft.com/office/powerpoint/2010/main" val="1646156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A2F9E8-BEC0-DFCD-EDF2-47D534159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93713" cy="1336295"/>
          </a:xfrm>
        </p:spPr>
        <p:txBody>
          <a:bodyPr/>
          <a:lstStyle/>
          <a:p>
            <a:r>
              <a:rPr lang="it-IT" sz="3000"/>
              <a:t>Leader election</a:t>
            </a:r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C39BFBB0-3B50-4F2E-4E1B-462AE0ED94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52" y="143635"/>
            <a:ext cx="11368966" cy="671199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6876328B-F220-36C2-D705-3B9DB52F95CE}"/>
              </a:ext>
            </a:extLst>
          </p:cNvPr>
          <p:cNvSpPr txBox="1"/>
          <p:nvPr/>
        </p:nvSpPr>
        <p:spPr>
          <a:xfrm>
            <a:off x="297620" y="365503"/>
            <a:ext cx="286571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b="1"/>
              <a:t>LEADER ELECTION: BULLY ALGORITHM</a:t>
            </a:r>
          </a:p>
        </p:txBody>
      </p:sp>
    </p:spTree>
    <p:extLst>
      <p:ext uri="{BB962C8B-B14F-4D97-AF65-F5344CB8AC3E}">
        <p14:creationId xmlns:p14="http://schemas.microsoft.com/office/powerpoint/2010/main" val="2915959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87A04CC6-A6B2-8F9B-6A7B-62801EE56E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7" y="-4194"/>
            <a:ext cx="11964016" cy="6871429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3AB966A-C5E8-C243-2370-4465AE6D8061}"/>
              </a:ext>
            </a:extLst>
          </p:cNvPr>
          <p:cNvSpPr txBox="1"/>
          <p:nvPr/>
        </p:nvSpPr>
        <p:spPr>
          <a:xfrm>
            <a:off x="450272" y="363681"/>
            <a:ext cx="339436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400" b="1"/>
              <a:t>Workers</a:t>
            </a:r>
          </a:p>
        </p:txBody>
      </p:sp>
    </p:spTree>
    <p:extLst>
      <p:ext uri="{BB962C8B-B14F-4D97-AF65-F5344CB8AC3E}">
        <p14:creationId xmlns:p14="http://schemas.microsoft.com/office/powerpoint/2010/main" val="2532147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4BCA9945-F56B-BE0C-73BF-50FC29452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3" y="-14980"/>
            <a:ext cx="12190955" cy="687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151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Snapshot — Chandy-Lamport Algorithm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1773936" y="100126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points are staggered — the marker arrives at each node at a different time.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1773936" y="1435608"/>
            <a:ext cx="128016" cy="128016"/>
          </a:xfrm>
          <a:prstGeom prst="rect">
            <a:avLst/>
          </a:prstGeom>
          <a:solidFill>
            <a:srgbClr val="CFE2F3"/>
          </a:solidFill>
          <a:ln w="12700">
            <a:solidFill>
              <a:srgbClr val="3D85C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1956816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3840480" y="1435608"/>
            <a:ext cx="128016" cy="128016"/>
          </a:xfrm>
          <a:prstGeom prst="rect">
            <a:avLst/>
          </a:prstGeom>
          <a:solidFill>
            <a:srgbClr val="D9F2E6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4023360" y="13898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In-flight (ledger)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6309360" y="1435608"/>
            <a:ext cx="128016" cy="128016"/>
          </a:xfrm>
          <a:prstGeom prst="rect">
            <a:avLst/>
          </a:prstGeom>
          <a:solidFill>
            <a:srgbClr val="FBDAD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 txBox="1"/>
          <p:nvPr/>
        </p:nvSpPr>
        <p:spPr>
          <a:xfrm>
            <a:off x="6492240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1773936" y="1737360"/>
            <a:ext cx="6172200" cy="502920"/>
          </a:xfrm>
          <a:prstGeom prst="roundRect">
            <a:avLst>
              <a:gd name="adj" fmla="val 14545"/>
            </a:avLst>
          </a:prstGeom>
          <a:solidFill>
            <a:srgbClr val="F3F3F3"/>
          </a:solidFill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 txBox="1"/>
          <p:nvPr/>
        </p:nvSpPr>
        <p:spPr>
          <a:xfrm>
            <a:off x="457200" y="17373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 (leader)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1773936" y="2697480"/>
            <a:ext cx="6172200" cy="502920"/>
          </a:xfrm>
          <a:prstGeom prst="roundRect">
            <a:avLst>
              <a:gd name="adj" fmla="val 14545"/>
            </a:avLst>
          </a:prstGeom>
          <a:solidFill>
            <a:srgbClr val="F3F3F3"/>
          </a:solidFill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457200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1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1773936" y="3657600"/>
            <a:ext cx="6172200" cy="502920"/>
          </a:xfrm>
          <a:prstGeom prst="roundRect">
            <a:avLst>
              <a:gd name="adj" fmla="val 14545"/>
            </a:avLst>
          </a:prstGeom>
          <a:solidFill>
            <a:srgbClr val="F3F3F3"/>
          </a:solidFill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 txBox="1"/>
          <p:nvPr/>
        </p:nvSpPr>
        <p:spPr>
          <a:xfrm>
            <a:off x="457200" y="3657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2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1956816" y="1810512"/>
            <a:ext cx="777240" cy="356616"/>
          </a:xfrm>
          <a:prstGeom prst="roundRect">
            <a:avLst>
              <a:gd name="adj" fmla="val 12821"/>
            </a:avLst>
          </a:prstGeom>
          <a:solidFill>
            <a:srgbClr val="CFE2F3"/>
          </a:solidFill>
          <a:ln w="19050">
            <a:solidFill>
              <a:srgbClr val="3D85C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 txBox="1"/>
          <p:nvPr/>
        </p:nvSpPr>
        <p:spPr>
          <a:xfrm>
            <a:off x="1956816" y="1810512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bet1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2871216" y="1810512"/>
            <a:ext cx="777240" cy="356616"/>
          </a:xfrm>
          <a:prstGeom prst="roundRect">
            <a:avLst>
              <a:gd name="adj" fmla="val 12821"/>
            </a:avLst>
          </a:prstGeom>
          <a:solidFill>
            <a:srgbClr val="CFE2F3"/>
          </a:solidFill>
          <a:ln w="19050">
            <a:solidFill>
              <a:srgbClr val="3D85C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 txBox="1"/>
          <p:nvPr/>
        </p:nvSpPr>
        <p:spPr>
          <a:xfrm>
            <a:off x="2871216" y="1810512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bet2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5797296" y="1810512"/>
            <a:ext cx="777240" cy="356616"/>
          </a:xfrm>
          <a:prstGeom prst="roundRect">
            <a:avLst>
              <a:gd name="adj" fmla="val 12821"/>
            </a:avLst>
          </a:prstGeom>
          <a:solidFill>
            <a:srgbClr val="D9F2E6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 txBox="1"/>
          <p:nvPr/>
        </p:nvSpPr>
        <p:spPr>
          <a:xfrm>
            <a:off x="5797296" y="1810512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bet3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6711696" y="1810512"/>
            <a:ext cx="777240" cy="356616"/>
          </a:xfrm>
          <a:prstGeom prst="roundRect">
            <a:avLst>
              <a:gd name="adj" fmla="val 12821"/>
            </a:avLst>
          </a:prstGeom>
          <a:solidFill>
            <a:srgbClr val="D9F2E6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 txBox="1"/>
          <p:nvPr/>
        </p:nvSpPr>
        <p:spPr>
          <a:xfrm>
            <a:off x="6711696" y="1810512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bet4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871216" y="2770632"/>
            <a:ext cx="777240" cy="356616"/>
          </a:xfrm>
          <a:prstGeom prst="roundRect">
            <a:avLst>
              <a:gd name="adj" fmla="val 12821"/>
            </a:avLst>
          </a:prstGeom>
          <a:solidFill>
            <a:srgbClr val="D9F2E6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 txBox="1"/>
          <p:nvPr/>
        </p:nvSpPr>
        <p:spPr>
          <a:xfrm>
            <a:off x="2871216" y="2770632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bet3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4535963" y="2770632"/>
            <a:ext cx="777240" cy="356616"/>
          </a:xfrm>
          <a:prstGeom prst="roundRect">
            <a:avLst>
              <a:gd name="adj" fmla="val 12821"/>
            </a:avLst>
          </a:prstGeom>
          <a:solidFill>
            <a:srgbClr val="FBDAD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3918205" y="3718919"/>
            <a:ext cx="777240" cy="356616"/>
          </a:xfrm>
          <a:prstGeom prst="roundRect">
            <a:avLst>
              <a:gd name="adj" fmla="val 12821"/>
            </a:avLst>
          </a:prstGeom>
          <a:solidFill>
            <a:srgbClr val="D9F2E6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 txBox="1"/>
          <p:nvPr/>
        </p:nvSpPr>
        <p:spPr>
          <a:xfrm>
            <a:off x="3918205" y="3718919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bet4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4059936" y="1737360"/>
            <a:ext cx="0" cy="502920"/>
          </a:xfrm>
          <a:prstGeom prst="line">
            <a:avLst/>
          </a:prstGeom>
          <a:noFill/>
          <a:ln w="28575">
            <a:solidFill>
              <a:srgbClr val="E6913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4297680" y="2697480"/>
            <a:ext cx="0" cy="502920"/>
          </a:xfrm>
          <a:prstGeom prst="line">
            <a:avLst/>
          </a:prstGeom>
          <a:noFill/>
          <a:ln w="28575">
            <a:solidFill>
              <a:srgbClr val="E69138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5280660" y="3716229"/>
            <a:ext cx="0" cy="502920"/>
          </a:xfrm>
          <a:prstGeom prst="line">
            <a:avLst/>
          </a:prstGeom>
          <a:noFill/>
          <a:ln w="28575">
            <a:solidFill>
              <a:srgbClr val="E69138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 flipV="1">
            <a:off x="3259836" y="2148840"/>
            <a:ext cx="2537455" cy="621792"/>
          </a:xfrm>
          <a:prstGeom prst="line">
            <a:avLst/>
          </a:prstGeom>
          <a:noFill/>
          <a:ln w="22225">
            <a:solidFill>
              <a:srgbClr val="1D9E7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 flipV="1">
            <a:off x="4686299" y="2180035"/>
            <a:ext cx="2025397" cy="1536193"/>
          </a:xfrm>
          <a:prstGeom prst="line">
            <a:avLst/>
          </a:prstGeom>
          <a:noFill/>
          <a:ln w="22225">
            <a:solidFill>
              <a:srgbClr val="1D9E7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 flipV="1">
            <a:off x="5142962" y="2286000"/>
            <a:ext cx="306324" cy="438912"/>
          </a:xfrm>
          <a:prstGeom prst="line">
            <a:avLst/>
          </a:prstGeom>
          <a:noFill/>
          <a:ln w="22225">
            <a:solidFill>
              <a:srgbClr val="C0392B"/>
            </a:solidFill>
            <a:prstDash val="dash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 flipV="1">
            <a:off x="4297680" y="2194560"/>
            <a:ext cx="777240" cy="502920"/>
          </a:xfrm>
          <a:prstGeom prst="line">
            <a:avLst/>
          </a:prstGeom>
          <a:noFill/>
          <a:ln w="22225">
            <a:solidFill>
              <a:srgbClr val="E69138"/>
            </a:solidFill>
            <a:prstDash val="dash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 flipV="1">
            <a:off x="5280660" y="2253189"/>
            <a:ext cx="557784" cy="1463040"/>
          </a:xfrm>
          <a:prstGeom prst="line">
            <a:avLst/>
          </a:prstGeom>
          <a:noFill/>
          <a:ln w="22225">
            <a:solidFill>
              <a:srgbClr val="E69138"/>
            </a:solidFill>
            <a:prstDash val="dash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6437376" y="2253189"/>
            <a:ext cx="0" cy="2410251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2414016" y="46634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D9D2E9"/>
          </a:solidFill>
          <a:ln w="19050">
            <a:solidFill>
              <a:srgbClr val="8E7CC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 txBox="1"/>
          <p:nvPr/>
        </p:nvSpPr>
        <p:spPr>
          <a:xfrm>
            <a:off x="2414016" y="4754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collector (snapshot.erl)</a:t>
            </a:r>
            <a:endParaRPr lang="en-US" sz="1400"/>
          </a:p>
        </p:txBody>
      </p:sp>
      <p:sp>
        <p:nvSpPr>
          <p:cNvPr id="41" name="Text 39"/>
          <p:cNvSpPr txBox="1"/>
          <p:nvPr/>
        </p:nvSpPr>
        <p:spPr>
          <a:xfrm>
            <a:off x="2414016" y="5120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= leader's accepted bets + captured in-flight bets</a:t>
            </a:r>
            <a:endParaRPr lang="en-US" sz="1100"/>
          </a:p>
        </p:txBody>
      </p:sp>
      <p:sp>
        <p:nvSpPr>
          <p:cNvPr id="42" name="Text 40"/>
          <p:cNvSpPr txBox="1"/>
          <p:nvPr/>
        </p:nvSpPr>
        <p:spPr>
          <a:xfrm>
            <a:off x="2414016" y="5394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Persisted to Mnesia as an atomic checkpoint</a:t>
            </a:r>
            <a:endParaRPr lang="en-US" sz="1100"/>
          </a:p>
        </p:txBody>
      </p:sp>
      <p:sp>
        <p:nvSpPr>
          <p:cNvPr id="43" name="Text 41"/>
          <p:cNvSpPr txBox="1"/>
          <p:nvPr/>
        </p:nvSpPr>
        <p:spPr>
          <a:xfrm>
            <a:off x="2414016" y="5669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to RabbitMQ → round_ledger</a:t>
            </a:r>
            <a:endParaRPr lang="en-US" sz="1100"/>
          </a:p>
        </p:txBody>
      </p:sp>
      <p:sp>
        <p:nvSpPr>
          <p:cNvPr id="44" name="Text 42"/>
          <p:cNvSpPr txBox="1"/>
          <p:nvPr/>
        </p:nvSpPr>
        <p:spPr>
          <a:xfrm>
            <a:off x="8403336" y="2011680"/>
            <a:ext cx="3291840" cy="266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marker travels the same FIFO channel as the bets, so causal order is guaranteed.</a:t>
            </a:r>
            <a:endParaRPr lang="en-US" sz="140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bet forwarded before the marker is in-flight — captured if it lands before the marker returns to the leader.</a:t>
            </a:r>
            <a:endParaRPr lang="en-US" sz="140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bet sent after the marker on that channel arrives too late and is rejected.</a:t>
            </a:r>
            <a:endParaRPr lang="en-US" sz="1400"/>
          </a:p>
        </p:txBody>
      </p:sp>
      <p:sp>
        <p:nvSpPr>
          <p:cNvPr id="27" name="Text 25"/>
          <p:cNvSpPr txBox="1"/>
          <p:nvPr/>
        </p:nvSpPr>
        <p:spPr>
          <a:xfrm>
            <a:off x="4544568" y="2779776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Chandy-Lamport Snapshot: How and Why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1274552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1F4FA"/>
          </a:solidFill>
          <a:ln w="12700">
            <a:solidFill>
              <a:srgbClr val="C9D3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685800" y="1170432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3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  </a:t>
            </a: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at the Gong (end of betting), right after the winning segment is drawn, before the wheel animation starts.</a:t>
            </a:r>
            <a:endParaRPr lang="en-US" sz="1600"/>
          </a:p>
        </p:txBody>
      </p:sp>
      <p:sp>
        <p:nvSpPr>
          <p:cNvPr id="6" name="Text 4"/>
          <p:cNvSpPr txBox="1"/>
          <p:nvPr/>
        </p:nvSpPr>
        <p:spPr>
          <a:xfrm>
            <a:off x="457200" y="208483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3-Phase Protocol</a:t>
            </a:r>
            <a:endParaRPr lang="en-US" sz="1800"/>
          </a:p>
        </p:txBody>
      </p:sp>
      <p:sp>
        <p:nvSpPr>
          <p:cNvPr id="7" name="Text 5"/>
          <p:cNvSpPr txBox="1"/>
          <p:nvPr/>
        </p:nvSpPr>
        <p:spPr>
          <a:xfrm>
            <a:off x="6382512" y="208483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</a:t>
            </a:r>
            <a:endParaRPr lang="en-US" sz="180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EAF2FE"/>
          </a:solidFill>
          <a:ln w="158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 txBox="1"/>
          <p:nvPr/>
        </p:nvSpPr>
        <p:spPr>
          <a:xfrm>
            <a:off x="658368" y="2596896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Wheel (Leader)</a:t>
            </a:r>
            <a:endParaRPr lang="en-US" sz="1350"/>
          </a:p>
        </p:txBody>
      </p:sp>
      <p:sp>
        <p:nvSpPr>
          <p:cNvPr id="10" name="Text 8"/>
          <p:cNvSpPr txBox="1"/>
          <p:nvPr/>
        </p:nvSpPr>
        <p:spPr>
          <a:xfrm>
            <a:off x="658368" y="2889504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its own state, starts the </a:t>
            </a:r>
            <a:r>
              <a:rPr lang="en-US" sz="1400" b="1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</a:t>
            </a: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sends </a:t>
            </a:r>
            <a:r>
              <a:rPr lang="en-US" sz="1400" b="1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markers</a:t>
            </a: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the workers on the same FIFO channels as the bets.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57200" y="3877056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E9FBF1"/>
          </a:solidFill>
          <a:ln w="158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 txBox="1"/>
          <p:nvPr/>
        </p:nvSpPr>
        <p:spPr>
          <a:xfrm>
            <a:off x="658368" y="3986784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Worker</a:t>
            </a:r>
            <a:endParaRPr lang="en-US" sz="1350"/>
          </a:p>
        </p:txBody>
      </p:sp>
      <p:sp>
        <p:nvSpPr>
          <p:cNvPr id="13" name="Text 11"/>
          <p:cNvSpPr txBox="1"/>
          <p:nvPr/>
        </p:nvSpPr>
        <p:spPr>
          <a:xfrm>
            <a:off x="658368" y="427939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worker saves its local state, replies with the </a:t>
            </a:r>
            <a:r>
              <a:rPr lang="en-US" sz="1400" b="1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</a:t>
            </a: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reports its portion back to the collector.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457200" y="5266944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FFF1E6"/>
          </a:solidFill>
          <a:ln w="1587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 txBox="1"/>
          <p:nvPr/>
        </p:nvSpPr>
        <p:spPr>
          <a:xfrm>
            <a:off x="658368" y="5376672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Collector</a:t>
            </a:r>
            <a:endParaRPr lang="en-US" sz="1350"/>
          </a:p>
        </p:txBody>
      </p:sp>
      <p:sp>
        <p:nvSpPr>
          <p:cNvPr id="16" name="Text 14"/>
          <p:cNvSpPr txBox="1"/>
          <p:nvPr/>
        </p:nvSpPr>
        <p:spPr>
          <a:xfrm>
            <a:off x="658368" y="5669280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Assembles the </a:t>
            </a:r>
            <a:r>
              <a:rPr lang="en-US" sz="1200">
                <a:solidFill>
                  <a:srgbClr val="1A2035"/>
                </a:solidFill>
                <a:highlight>
                  <a:srgbClr val="EDEFF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snapshot_record</a:t>
            </a: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(local bets + in-flight), persists it to </a:t>
            </a:r>
            <a:r>
              <a:rPr lang="en-US" sz="1400" b="1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Mnesia</a:t>
            </a: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(replicated), and publishes the ledger to </a:t>
            </a:r>
            <a:r>
              <a:rPr lang="en-US" sz="1200">
                <a:solidFill>
                  <a:srgbClr val="1A2035"/>
                </a:solidFill>
                <a:highlight>
                  <a:srgbClr val="EDEFF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results_queue</a:t>
            </a: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6382512" y="2487168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F6EEFE"/>
          </a:solidFill>
          <a:ln w="15875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 txBox="1"/>
          <p:nvPr/>
        </p:nvSpPr>
        <p:spPr>
          <a:xfrm>
            <a:off x="6583680" y="2596896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Ledger</a:t>
            </a:r>
            <a:endParaRPr lang="en-US" sz="1350"/>
          </a:p>
        </p:txBody>
      </p:sp>
      <p:sp>
        <p:nvSpPr>
          <p:cNvPr id="19" name="Text 17"/>
          <p:cNvSpPr txBox="1"/>
          <p:nvPr/>
        </p:nvSpPr>
        <p:spPr>
          <a:xfrm>
            <a:off x="6583680" y="2889504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400" b="1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definitive</a:t>
            </a: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list of the round's bets, including those still </a:t>
            </a:r>
            <a:r>
              <a:rPr lang="en-US" sz="1400" b="1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flight</a:t>
            </a: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channels.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6382512" y="3877056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EAF2FE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 txBox="1"/>
          <p:nvPr/>
        </p:nvSpPr>
        <p:spPr>
          <a:xfrm>
            <a:off x="6583680" y="3986784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Recovery</a:t>
            </a:r>
            <a:endParaRPr lang="en-US" sz="1350"/>
          </a:p>
        </p:txBody>
      </p:sp>
      <p:sp>
        <p:nvSpPr>
          <p:cNvPr id="22" name="Text 20"/>
          <p:cNvSpPr txBox="1"/>
          <p:nvPr/>
        </p:nvSpPr>
        <p:spPr>
          <a:xfrm>
            <a:off x="6583680" y="427939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leader reads the checkpoint and decides whether to </a:t>
            </a:r>
            <a:r>
              <a:rPr lang="en-US" sz="1400" b="1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(post-gong crash) or </a:t>
            </a:r>
            <a:r>
              <a:rPr lang="en-US" sz="1400" b="1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(betting-phase crash) the round.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6382512" y="5266944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E9FBF1"/>
          </a:solidFill>
          <a:ln w="158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 txBox="1"/>
          <p:nvPr/>
        </p:nvSpPr>
        <p:spPr>
          <a:xfrm>
            <a:off x="6583680" y="5376672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</a:t>
            </a:r>
            <a:endParaRPr lang="en-US" sz="1350"/>
          </a:p>
        </p:txBody>
      </p:sp>
      <p:sp>
        <p:nvSpPr>
          <p:cNvPr id="25" name="Text 23"/>
          <p:cNvSpPr txBox="1"/>
          <p:nvPr/>
        </p:nvSpPr>
        <p:spPr>
          <a:xfrm>
            <a:off x="6583680" y="5669280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200">
                <a:solidFill>
                  <a:srgbClr val="1A2035"/>
                </a:solidFill>
                <a:highlight>
                  <a:srgbClr val="EDEFF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bet_id</a:t>
            </a: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values in the checkpoint prevent bets re-delivered by the broker from being played </a:t>
            </a:r>
            <a:r>
              <a:rPr lang="en-US" sz="1400" b="1">
                <a:solidFill>
                  <a:srgbClr val="1A2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twice</a:t>
            </a:r>
            <a:r>
              <a:rPr lang="en-US" sz="1400">
                <a:solidFill>
                  <a:srgbClr val="444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the Leader Crashes?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2286000" y="118872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D9EAD3"/>
          </a:solidFill>
          <a:ln w="19050">
            <a:solidFill>
              <a:srgbClr val="6AA8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 txBox="1"/>
          <p:nvPr/>
        </p:nvSpPr>
        <p:spPr>
          <a:xfrm>
            <a:off x="2514600" y="1261872"/>
            <a:ext cx="55778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Round in progress — game3 is the LEADER</a:t>
            </a:r>
            <a:endParaRPr lang="en-US" sz="1300"/>
          </a:p>
        </p:txBody>
      </p:sp>
      <p:sp>
        <p:nvSpPr>
          <p:cNvPr id="5" name="Text 3"/>
          <p:cNvSpPr txBox="1"/>
          <p:nvPr/>
        </p:nvSpPr>
        <p:spPr>
          <a:xfrm>
            <a:off x="2514600" y="1572768"/>
            <a:ext cx="55778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 spins, bets collected, Chandy-Lamport snapshot already completed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303520" y="1965960"/>
            <a:ext cx="0" cy="228600"/>
          </a:xfrm>
          <a:prstGeom prst="line">
            <a:avLst/>
          </a:prstGeom>
          <a:noFill/>
          <a:ln w="2540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2286000" y="219456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F4CCCC"/>
          </a:solidFill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2514600" y="2267712"/>
            <a:ext cx="55778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CRASH — game3 dies suddenly</a:t>
            </a:r>
            <a:endParaRPr lang="en-US" sz="1300"/>
          </a:p>
        </p:txBody>
      </p:sp>
      <p:sp>
        <p:nvSpPr>
          <p:cNvPr id="9" name="Text 7"/>
          <p:cNvSpPr txBox="1"/>
          <p:nvPr/>
        </p:nvSpPr>
        <p:spPr>
          <a:xfrm>
            <a:off x="2514600" y="2578608"/>
            <a:ext cx="55778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net_kernel detects the nodedown and notifies the cluster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5303520" y="2971800"/>
            <a:ext cx="0" cy="228600"/>
          </a:xfrm>
          <a:prstGeom prst="line">
            <a:avLst/>
          </a:prstGeom>
          <a:noFill/>
          <a:ln w="2540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286000" y="320040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FCE5CD"/>
          </a:solidFill>
          <a:ln w="19050">
            <a:solidFill>
              <a:srgbClr val="E6913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 txBox="1"/>
          <p:nvPr/>
        </p:nvSpPr>
        <p:spPr>
          <a:xfrm>
            <a:off x="2514600" y="3273552"/>
            <a:ext cx="55778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Election — Bully Algorithm</a:t>
            </a:r>
            <a:endParaRPr lang="en-US" sz="1300"/>
          </a:p>
        </p:txBody>
      </p:sp>
      <p:sp>
        <p:nvSpPr>
          <p:cNvPr id="13" name="Text 11"/>
          <p:cNvSpPr txBox="1"/>
          <p:nvPr/>
        </p:nvSpPr>
        <p:spPr>
          <a:xfrm>
            <a:off x="2514600" y="3584448"/>
            <a:ext cx="55778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game2 &gt; game1 → game2 becomes LEADER (2/3 quorum verified)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5303520" y="3977640"/>
            <a:ext cx="0" cy="228600"/>
          </a:xfrm>
          <a:prstGeom prst="line">
            <a:avLst/>
          </a:prstGeom>
          <a:noFill/>
          <a:ln w="2540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2286000" y="420624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D9D2E9"/>
          </a:solidFill>
          <a:ln w="19050">
            <a:solidFill>
              <a:srgbClr val="8E7CC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 txBox="1"/>
          <p:nvPr/>
        </p:nvSpPr>
        <p:spPr>
          <a:xfrm>
            <a:off x="2514600" y="4279392"/>
            <a:ext cx="55778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Recovery — read from Mnesia</a:t>
            </a:r>
            <a:endParaRPr lang="en-US" sz="1300"/>
          </a:p>
        </p:txBody>
      </p:sp>
      <p:sp>
        <p:nvSpPr>
          <p:cNvPr id="17" name="Text 15"/>
          <p:cNvSpPr txBox="1"/>
          <p:nvPr/>
        </p:nvSpPr>
        <p:spPr>
          <a:xfrm>
            <a:off x="2514600" y="4590288"/>
            <a:ext cx="55778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 round snapshot → publishes round_cancelled or completes the round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5303520" y="4983480"/>
            <a:ext cx="0" cy="228600"/>
          </a:xfrm>
          <a:prstGeom prst="line">
            <a:avLst/>
          </a:prstGeom>
          <a:noFill/>
          <a:ln w="2540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2286000" y="521208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CFE2F3"/>
          </a:solidFill>
          <a:ln w="19050">
            <a:solidFill>
              <a:srgbClr val="3D85C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 txBox="1"/>
          <p:nvPr/>
        </p:nvSpPr>
        <p:spPr>
          <a:xfrm>
            <a:off x="2514600" y="5285232"/>
            <a:ext cx="55778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Reconciliation — Java Gateway</a:t>
            </a:r>
            <a:endParaRPr lang="en-US" sz="1300"/>
          </a:p>
        </p:txBody>
      </p:sp>
      <p:sp>
        <p:nvSpPr>
          <p:cNvPr id="21" name="Text 19"/>
          <p:cNvSpPr txBox="1"/>
          <p:nvPr/>
        </p:nvSpPr>
        <p:spPr>
          <a:xfrm>
            <a:off x="2514600" y="5596128"/>
            <a:ext cx="55778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Refunds pending bets missing from the ledger: no loss, no double payout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8686800" y="42062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8686800" y="4206240"/>
            <a:ext cx="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 txBox="1"/>
          <p:nvPr/>
        </p:nvSpPr>
        <p:spPr>
          <a:xfrm>
            <a:off x="8869680" y="4343400"/>
            <a:ext cx="237744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Unacked bets return to bets_queue and are served by the new leader</a:t>
            </a:r>
            <a:endParaRPr lang="en-US" sz="1150"/>
          </a:p>
        </p:txBody>
      </p:sp>
      <p:sp>
        <p:nvSpPr>
          <p:cNvPr id="25" name="Shape 23"/>
          <p:cNvSpPr/>
          <p:nvPr/>
        </p:nvSpPr>
        <p:spPr>
          <a:xfrm flipH="1" flipV="1">
            <a:off x="8366760" y="4594860"/>
            <a:ext cx="320040" cy="320040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tailEnd type="triangle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296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Role of the Java Gateway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2120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Handling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3F3F3"/>
          </a:solidFill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/api/auth/register</a:t>
            </a:r>
            <a:endParaRPr lang="en-US" sz="1250"/>
          </a:p>
          <a:p>
            <a:pPr marL="0" indent="0">
              <a:spcAft>
                <a:spcPts val="600"/>
              </a:spcAft>
              <a:buNone/>
            </a:pPr>
            <a:r>
              <a:rPr lang="en-US" sz="125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endParaRPr lang="en-US" sz="1250"/>
          </a:p>
          <a:p>
            <a:pPr marL="0" indent="0">
              <a:spcAft>
                <a:spcPts val="600"/>
              </a:spcAft>
              <a:buNone/>
            </a:pPr>
            <a:r>
              <a:rPr lang="en-US" sz="125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/api/wallet/balance</a:t>
            </a:r>
            <a:endParaRPr lang="en-US" sz="1250"/>
          </a:p>
          <a:p>
            <a:pPr marL="0" indent="0">
              <a:spcAft>
                <a:spcPts val="600"/>
              </a:spcAft>
              <a:buNone/>
            </a:pPr>
            <a:r>
              <a:rPr lang="en-US" sz="125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/api/wallet/place-bet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3154680" y="3017520"/>
            <a:ext cx="0" cy="347472"/>
          </a:xfrm>
          <a:prstGeom prst="line">
            <a:avLst/>
          </a:prstGeom>
          <a:noFill/>
          <a:ln w="2540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CFE2F3"/>
          </a:solidFill>
          <a:ln w="19050">
            <a:solidFill>
              <a:srgbClr val="3D85C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822960" y="3493008"/>
            <a:ext cx="4663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place-bet() does:</a:t>
            </a:r>
            <a:endParaRPr lang="en-US" sz="1250"/>
          </a:p>
        </p:txBody>
      </p:sp>
      <p:sp>
        <p:nvSpPr>
          <p:cNvPr id="9" name="Text 7"/>
          <p:cNvSpPr txBox="1"/>
          <p:nvPr/>
        </p:nvSpPr>
        <p:spPr>
          <a:xfrm>
            <a:off x="822960" y="382219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Deducts the balance (pessimistic lock)</a:t>
            </a:r>
            <a:endParaRPr lang="en-US" sz="1250"/>
          </a:p>
          <a:p>
            <a:pPr marL="0" indent="0">
              <a:spcAft>
                <a:spcPts val="800"/>
              </a:spcAft>
              <a:buNone/>
            </a:pPr>
            <a:r>
              <a:rPr lang="en-US" sz="125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Saves the bet as PENDING</a:t>
            </a:r>
            <a:endParaRPr lang="en-US" sz="1250"/>
          </a:p>
          <a:p>
            <a:pPr marL="0" indent="0">
              <a:spcAft>
                <a:spcPts val="800"/>
              </a:spcAft>
              <a:buNone/>
            </a:pPr>
            <a:r>
              <a:rPr lang="en-US" sz="125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Sends the JSON to </a:t>
            </a:r>
            <a:r>
              <a:rPr lang="en-US" sz="125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bets_queue</a:t>
            </a:r>
            <a:endParaRPr lang="en-US" sz="1250"/>
          </a:p>
        </p:txBody>
      </p:sp>
      <p:sp>
        <p:nvSpPr>
          <p:cNvPr id="10" name="Text 8"/>
          <p:cNvSpPr txBox="1"/>
          <p:nvPr/>
        </p:nvSpPr>
        <p:spPr>
          <a:xfrm>
            <a:off x="6309360" y="1143000"/>
            <a:ext cx="52578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from the Ledger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6309360" y="160020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F3F3F3"/>
          </a:solidFill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 txBox="1"/>
          <p:nvPr/>
        </p:nvSpPr>
        <p:spPr>
          <a:xfrm>
            <a:off x="6309360" y="1600200"/>
            <a:ext cx="52578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RabbitMQ  →  results_queue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6309360" y="233172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D9EAD3"/>
          </a:solidFill>
          <a:ln w="19050">
            <a:solidFill>
              <a:srgbClr val="6AA8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 txBox="1"/>
          <p:nvPr/>
        </p:nvSpPr>
        <p:spPr>
          <a:xfrm>
            <a:off x="6537960" y="2404872"/>
            <a:ext cx="4800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"result"</a:t>
            </a:r>
            <a:endParaRPr lang="en-US" sz="1200"/>
          </a:p>
        </p:txBody>
      </p:sp>
      <p:sp>
        <p:nvSpPr>
          <p:cNvPr id="15" name="Text 13"/>
          <p:cNvSpPr txBox="1"/>
          <p:nvPr/>
        </p:nvSpPr>
        <p:spPr>
          <a:xfrm>
            <a:off x="6537960" y="2697480"/>
            <a:ext cx="48006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PayoutListener: computes winnings, updates status (WON/LOST), credits the balance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6309360" y="329184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CFE2F3"/>
          </a:solidFill>
          <a:ln w="19050">
            <a:solidFill>
              <a:srgbClr val="3D85C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 txBox="1"/>
          <p:nvPr/>
        </p:nvSpPr>
        <p:spPr>
          <a:xfrm>
            <a:off x="6537960" y="3364992"/>
            <a:ext cx="4800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"round_ledger"</a:t>
            </a:r>
            <a:endParaRPr lang="en-US" sz="1200"/>
          </a:p>
        </p:txBody>
      </p:sp>
      <p:sp>
        <p:nvSpPr>
          <p:cNvPr id="18" name="Text 16"/>
          <p:cNvSpPr txBox="1"/>
          <p:nvPr/>
        </p:nvSpPr>
        <p:spPr>
          <a:xfrm>
            <a:off x="6537960" y="3657600"/>
            <a:ext cx="48006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LedgerListener: PENDING bets missing from the ledger → REFUNDED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6309360" y="425196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4CCCC"/>
          </a:solidFill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 txBox="1"/>
          <p:nvPr/>
        </p:nvSpPr>
        <p:spPr>
          <a:xfrm>
            <a:off x="6537960" y="4325112"/>
            <a:ext cx="4800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"round_cancelled"</a:t>
            </a:r>
            <a:endParaRPr lang="en-US" sz="1200"/>
          </a:p>
        </p:txBody>
      </p:sp>
      <p:sp>
        <p:nvSpPr>
          <p:cNvPr id="21" name="Text 19"/>
          <p:cNvSpPr txBox="1"/>
          <p:nvPr/>
        </p:nvSpPr>
        <p:spPr>
          <a:xfrm>
            <a:off x="653796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LedgerListener: refunds ALL PENDING bets of the round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8938260" y="2103120"/>
            <a:ext cx="0" cy="228600"/>
          </a:xfrm>
          <a:prstGeom prst="line">
            <a:avLst/>
          </a:prstGeom>
          <a:noFill/>
          <a:ln w="2540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8938260" y="3108960"/>
            <a:ext cx="0" cy="182880"/>
          </a:xfrm>
          <a:prstGeom prst="line">
            <a:avLst/>
          </a:prstGeom>
          <a:noFill/>
          <a:ln w="2540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8938260" y="4069080"/>
            <a:ext cx="0" cy="182880"/>
          </a:xfrm>
          <a:prstGeom prst="line">
            <a:avLst/>
          </a:prstGeom>
          <a:noFill/>
          <a:ln w="2540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623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360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verification: load handling and dealer-crash recovery</a:t>
            </a:r>
            <a:endParaRPr lang="en-US" sz="140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CFE2F3"/>
          </a:solidFill>
          <a:ln w="12700">
            <a:solidFill>
              <a:srgbClr val="3D85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</a:t>
            </a:r>
            <a:endParaRPr lang="en-US" sz="150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stress_test.py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5257800" cy="3611880"/>
          </a:xfrm>
          <a:prstGeom prst="roundRect">
            <a:avLst>
              <a:gd name="adj" fmla="val 1519"/>
            </a:avLst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4709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registered players run an open-ended sequence of concurrent rounds</a:t>
            </a:r>
            <a:endParaRPr lang="en-US" sz="1350"/>
          </a:p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round: a random amount is wagered on a random segment, for every player, in parallel</a:t>
            </a:r>
            <a:endParaRPr lang="en-US" sz="1350"/>
          </a:p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checkpoints — the operator presses Enter when betting opens and again once the wheel stops</a:t>
            </a:r>
            <a:endParaRPr lang="en-US" sz="1350"/>
          </a:p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round it prints, for every player: balance before/after, payout, net result — plus the house balance</a:t>
            </a:r>
            <a:endParaRPr lang="en-US" sz="1350"/>
          </a:p>
        </p:txBody>
      </p:sp>
      <p:sp>
        <p:nvSpPr>
          <p:cNvPr id="8" name="Text 6"/>
          <p:cNvSpPr txBox="1"/>
          <p:nvPr/>
        </p:nvSpPr>
        <p:spPr>
          <a:xfrm>
            <a:off x="731520" y="53492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>
                <a:solidFill>
                  <a:srgbClr val="3D8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verify correctness and responsiveness of the whole pipeline under concurrent load</a:t>
            </a:r>
            <a:endParaRPr lang="en-US" sz="1250"/>
          </a:p>
        </p:txBody>
      </p:sp>
      <p:sp>
        <p:nvSpPr>
          <p:cNvPr id="9" name="Text 7"/>
          <p:cNvSpPr txBox="1"/>
          <p:nvPr/>
        </p:nvSpPr>
        <p:spPr>
          <a:xfrm>
            <a:off x="6172200" y="1508760"/>
            <a:ext cx="5559552" cy="502920"/>
          </a:xfrm>
          <a:prstGeom prst="roundRect">
            <a:avLst>
              <a:gd name="adj" fmla="val 10909"/>
            </a:avLst>
          </a:prstGeom>
          <a:solidFill>
            <a:srgbClr val="F4CCCC"/>
          </a:solidFill>
          <a:ln w="12700">
            <a:solidFill>
              <a:srgbClr val="CC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 CRASH TEST</a:t>
            </a:r>
            <a:endParaRPr lang="en-US" sz="1500"/>
          </a:p>
        </p:txBody>
      </p:sp>
      <p:sp>
        <p:nvSpPr>
          <p:cNvPr id="10" name="Text 8"/>
          <p:cNvSpPr txBox="1"/>
          <p:nvPr/>
        </p:nvSpPr>
        <p:spPr>
          <a:xfrm>
            <a:off x="6172200" y="201168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crash_test.py</a:t>
            </a:r>
            <a:endParaRPr lang="en-US" sz="1100"/>
          </a:p>
        </p:txBody>
      </p:sp>
      <p:sp>
        <p:nvSpPr>
          <p:cNvPr id="11" name="Text 9"/>
          <p:cNvSpPr txBox="1"/>
          <p:nvPr/>
        </p:nvSpPr>
        <p:spPr>
          <a:xfrm>
            <a:off x="6172200" y="2377440"/>
            <a:ext cx="5559552" cy="658368"/>
          </a:xfrm>
          <a:prstGeom prst="roundRect">
            <a:avLst>
              <a:gd name="adj" fmla="val 6944"/>
            </a:avLst>
          </a:prstGeom>
          <a:solidFill>
            <a:srgbClr val="F4CCCC"/>
          </a:solidFill>
          <a:ln w="12700">
            <a:solidFill>
              <a:srgbClr val="CC0000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Setup</a:t>
            </a:r>
            <a:endParaRPr lang="en-US" sz="1300"/>
          </a:p>
          <a:p>
            <a:pPr marL="0" indent="0" algn="ctr">
              <a:buNone/>
            </a:pPr>
            <a:r>
              <a:rPr lang="en-US" sz="11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players each wager 10 EUR on segment 5 — the amount actually debited is recorded</a:t>
            </a:r>
            <a:endParaRPr lang="en-US" sz="1300"/>
          </a:p>
        </p:txBody>
      </p:sp>
      <p:sp>
        <p:nvSpPr>
          <p:cNvPr id="12" name="Text 10"/>
          <p:cNvSpPr txBox="1"/>
          <p:nvPr/>
        </p:nvSpPr>
        <p:spPr>
          <a:xfrm>
            <a:off x="5660136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/>
          </a:p>
        </p:txBody>
      </p:sp>
      <p:sp>
        <p:nvSpPr>
          <p:cNvPr id="13" name="Text 11"/>
          <p:cNvSpPr txBox="1"/>
          <p:nvPr/>
        </p:nvSpPr>
        <p:spPr>
          <a:xfrm>
            <a:off x="6117336" y="3017520"/>
            <a:ext cx="5522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moments before the gong</a:t>
            </a:r>
            <a:endParaRPr lang="en-US" sz="1050"/>
          </a:p>
        </p:txBody>
      </p:sp>
      <p:sp>
        <p:nvSpPr>
          <p:cNvPr id="14" name="Text 12"/>
          <p:cNvSpPr txBox="1"/>
          <p:nvPr/>
        </p:nvSpPr>
        <p:spPr>
          <a:xfrm>
            <a:off x="6172200" y="3364992"/>
            <a:ext cx="5559552" cy="658368"/>
          </a:xfrm>
          <a:prstGeom prst="roundRect">
            <a:avLst>
              <a:gd name="adj" fmla="val 6944"/>
            </a:avLst>
          </a:prstGeom>
          <a:solidFill>
            <a:srgbClr val="FCE5CD"/>
          </a:solidFill>
          <a:ln w="12700">
            <a:solidFill>
              <a:srgbClr val="E6913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Simulated crash</a:t>
            </a:r>
            <a:endParaRPr lang="en-US" sz="1300"/>
          </a:p>
          <a:p>
            <a:pPr marL="0" indent="0" algn="ctr">
              <a:buNone/>
            </a:pPr>
            <a:r>
              <a:rPr lang="en-US" sz="11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pkill -9 is issued against game3 (the Leader), before the gong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5660136" y="4005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/>
          </a:p>
        </p:txBody>
      </p:sp>
      <p:sp>
        <p:nvSpPr>
          <p:cNvPr id="16" name="Text 14"/>
          <p:cNvSpPr txBox="1"/>
          <p:nvPr/>
        </p:nvSpPr>
        <p:spPr>
          <a:xfrm>
            <a:off x="6117336" y="4005072"/>
            <a:ext cx="5522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Bully election + Mnesia-checkpoint recovery run automatically</a:t>
            </a:r>
            <a:endParaRPr lang="en-US" sz="1050"/>
          </a:p>
        </p:txBody>
      </p:sp>
      <p:sp>
        <p:nvSpPr>
          <p:cNvPr id="17" name="Text 15"/>
          <p:cNvSpPr txBox="1"/>
          <p:nvPr/>
        </p:nvSpPr>
        <p:spPr>
          <a:xfrm>
            <a:off x="6172200" y="4352544"/>
            <a:ext cx="5559552" cy="658368"/>
          </a:xfrm>
          <a:prstGeom prst="roundRect">
            <a:avLst>
              <a:gd name="adj" fmla="val 6944"/>
            </a:avLst>
          </a:prstGeom>
          <a:solidFill>
            <a:srgbClr val="CFE2F3"/>
          </a:solidFill>
          <a:ln w="12700">
            <a:solidFill>
              <a:srgbClr val="3D85C6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Monitoring</a:t>
            </a:r>
            <a:endParaRPr lang="en-US" sz="1300"/>
          </a:p>
          <a:p>
            <a:pPr marL="0" indent="0" algn="ctr">
              <a:buNone/>
            </a:pPr>
            <a:r>
              <a:rPr lang="en-US" sz="11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balances are sampled every 5s for one minute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5660136" y="49926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/>
          </a:p>
        </p:txBody>
      </p:sp>
      <p:sp>
        <p:nvSpPr>
          <p:cNvPr id="19" name="Text 17"/>
          <p:cNvSpPr txBox="1"/>
          <p:nvPr/>
        </p:nvSpPr>
        <p:spPr>
          <a:xfrm>
            <a:off x="6117336" y="4992624"/>
            <a:ext cx="5522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Gateway reconciles the ledger</a:t>
            </a:r>
            <a:endParaRPr lang="en-US" sz="1050"/>
          </a:p>
        </p:txBody>
      </p:sp>
      <p:sp>
        <p:nvSpPr>
          <p:cNvPr id="20" name="Text 18"/>
          <p:cNvSpPr txBox="1"/>
          <p:nvPr/>
        </p:nvSpPr>
        <p:spPr>
          <a:xfrm>
            <a:off x="6172200" y="5340096"/>
            <a:ext cx="5559552" cy="658368"/>
          </a:xfrm>
          <a:prstGeom prst="roundRect">
            <a:avLst>
              <a:gd name="adj" fmla="val 6944"/>
            </a:avLst>
          </a:prstGeom>
          <a:solidFill>
            <a:srgbClr val="D9EAD3"/>
          </a:solidFill>
          <a:ln w="12700">
            <a:solidFill>
              <a:srgbClr val="6AA84F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Verification</a:t>
            </a:r>
            <a:endParaRPr lang="en-US" sz="1300"/>
          </a:p>
          <a:p>
            <a:pPr marL="0" indent="0" algn="ctr">
              <a:buNone/>
            </a:pPr>
            <a:r>
              <a:rPr lang="en-US" sz="11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Refunded total vs. staked total → confirms which recovery branch ran and that no money was lost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457200" y="6263640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 txBox="1"/>
          <p:nvPr/>
        </p:nvSpPr>
        <p:spPr>
          <a:xfrm>
            <a:off x="640080" y="62636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suites confirm zero financial loss: correct concurrency handling under load, and correct Bully election + Chandy-Lamport recovery after a dealer crash.</a:t>
            </a:r>
            <a:endParaRPr lang="en-US" sz="1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FC6D864-B36C-9140-9CA0-CA4EDC0ADBC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cdb6b16-2892-490c-8ad9-14c1ba0dea8d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3EC1840-77D8-2B48-8456-7F6ED0DF9BEC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dad29387-0b9c-4c0a-b4de-68dcb0a5942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967</Words>
  <Application>Microsoft Macintosh PowerPoint</Application>
  <PresentationFormat>Widescreen</PresentationFormat>
  <Paragraphs>141</Paragraphs>
  <Slides>13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Tema di Office</vt:lpstr>
      <vt:lpstr>Distributed Crazy Time</vt:lpstr>
      <vt:lpstr>Game Loop</vt:lpstr>
      <vt:lpstr>System Architecture</vt:lpstr>
      <vt:lpstr>Supervision Tree</vt:lpstr>
      <vt:lpstr>Cluster manager</vt:lpstr>
      <vt:lpstr>Leader election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Gabriele Caioli</cp:lastModifiedBy>
  <cp:revision>1</cp:revision>
  <dcterms:created xsi:type="dcterms:W3CDTF">2026-09-05T17:02:04Z</dcterms:created>
  <dcterms:modified xsi:type="dcterms:W3CDTF">2026-09-11T10:07:19Z</dcterms:modified>
</cp:coreProperties>
</file>